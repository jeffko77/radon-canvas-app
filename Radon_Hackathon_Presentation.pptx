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don Risk and Recovery Strategy Post-Tornado" id="{570158B1-CE5F-410A-80BA-E5222EB45DF0}">
          <p14:sldIdLst>
            <p14:sldId id="2561"/>
          </p14:sldIdLst>
        </p14:section>
        <p14:section name="Radon Risk in Tornado Recovery" id="{22E30A82-6070-4E5B-9E44-13C0A49D6AF9}">
          <p14:sldIdLst>
            <p14:sldId id="2562"/>
            <p14:sldId id="2563"/>
          </p14:sldIdLst>
        </p14:section>
        <p14:section name="Community Health Disparities" id="{E7A77D22-0845-42F3-A065-B4DEA3F5D5F6}">
          <p14:sldIdLst>
            <p14:sldId id="2564"/>
            <p14:sldId id="2565"/>
          </p14:sldIdLst>
        </p14:section>
        <p14:section name="Radon Burden" id="{90C298C4-302A-4C53-8E85-5FF10CAA1981}">
          <p14:sldIdLst>
            <p14:sldId id="2566"/>
            <p14:sldId id="2567"/>
          </p14:sldIdLst>
        </p14:section>
        <p14:section name="Opportunity Window" id="{F760F93B-EF97-4DD6-AE95-67B19AF9B987}">
          <p14:sldIdLst>
            <p14:sldId id="2568"/>
            <p14:sldId id="2569"/>
          </p14:sldIdLst>
        </p14:section>
        <p14:section name="Radon Canvas Initiative" id="{B64E9CD2-99E1-4BC8-B586-A7D57075D130}">
          <p14:sldIdLst>
            <p14:sldId id="2570"/>
            <p14:sldId id="2571"/>
          </p14:sldIdLst>
        </p14:section>
        <p14:section name="Technology Solution" id="{146DFF2B-BF4C-4742-A42D-0D002DBB6ED2}">
          <p14:sldIdLst>
            <p14:sldId id="2572"/>
            <p14:sldId id="2573"/>
          </p14:sldIdLst>
        </p14:section>
        <p14:section name="Implementation Pathway" id="{113F8CA2-292A-4037-B386-78DE6D9E2249}">
          <p14:sldIdLst>
            <p14:sldId id="2574"/>
            <p14:sldId id="25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6EEA54-A697-421C-7C61-FD3D2207E92C}" v="27" dt="2026-01-15T21:41:40.220"/>
    <p1510:client id="{2FC8525F-E7B2-4BDB-934E-7C6BF06F9283}" v="18" dt="2026-01-15T21:21:21.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87F94-4068-4BCB-ADE8-3982E3D69A18}" type="datetimeFigureOut">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DB7143-F26B-4E71-A206-0A037CC6977D}" type="slidenum">
              <a:t>‹#›</a:t>
            </a:fld>
            <a:endParaRPr lang="en-US"/>
          </a:p>
        </p:txBody>
      </p:sp>
    </p:spTree>
    <p:extLst>
      <p:ext uri="{BB962C8B-B14F-4D97-AF65-F5344CB8AC3E}">
        <p14:creationId xmlns:p14="http://schemas.microsoft.com/office/powerpoint/2010/main" val="2097473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D2F526B-7309-4F2A-8B9C-94F6667A0BBC}" type="slidenum">
              <a:t>1</a:t>
            </a:fld>
            <a:endParaRPr lang="en-US"/>
          </a:p>
        </p:txBody>
      </p:sp>
    </p:spTree>
    <p:extLst>
      <p:ext uri="{BB962C8B-B14F-4D97-AF65-F5344CB8AC3E}">
        <p14:creationId xmlns:p14="http://schemas.microsoft.com/office/powerpoint/2010/main" val="2792616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Impact of EF3 Tornado on Structures and Radon Exposure</a:t>
            </a:r>
          </a:p>
        </p:txBody>
      </p:sp>
      <p:sp>
        <p:nvSpPr>
          <p:cNvPr id="4" name="Slide Number Placeholder 3"/>
          <p:cNvSpPr>
            <a:spLocks noGrp="1"/>
          </p:cNvSpPr>
          <p:nvPr>
            <p:ph type="sldNum" sz="quarter" idx="5"/>
          </p:nvPr>
        </p:nvSpPr>
        <p:spPr/>
        <p:txBody>
          <a:bodyPr/>
          <a:lstStyle/>
          <a:p>
            <a:fld id="{BD2F526B-7309-4F2A-8B9C-94F6667A0BBC}" type="slidenum">
              <a:t>2</a:t>
            </a:fld>
            <a:endParaRPr lang="en-US"/>
          </a:p>
        </p:txBody>
      </p:sp>
    </p:spTree>
    <p:extLst>
      <p:ext uri="{BB962C8B-B14F-4D97-AF65-F5344CB8AC3E}">
        <p14:creationId xmlns:p14="http://schemas.microsoft.com/office/powerpoint/2010/main" val="4024822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EF3 tornado caused significant structural damage, impacting approximately 5,000 buildings in the affected region. Among these, an estimated 2,800 structures are likely to have elevated radon levels, posing a serious health risk to residents. Radon, a colorless and odorless radioactive gas, can infiltrate homes through cracks and openings in foundations, especially when structural integrity is compromised. Tornado recovery efforts often focus on rebuilding and repairing visible damage, but the hidden threat of radon exposure remains largely overlooked. This creates an urgent need for integrated radon testing and mitigation strategies during reconstruction. Addressing radon risk at this stage can prevent long-term health consequences, including lung cancer, which is strongly associated with prolonged radon exposure. The scale of damage and potential exposure underscores the importance of proactive measures to safeguard community health during recovery operations.</a:t>
            </a:r>
          </a:p>
        </p:txBody>
      </p:sp>
      <p:sp>
        <p:nvSpPr>
          <p:cNvPr id="4" name="Slide Number Placeholder 3"/>
          <p:cNvSpPr>
            <a:spLocks noGrp="1"/>
          </p:cNvSpPr>
          <p:nvPr>
            <p:ph type="sldNum" sz="quarter" idx="5"/>
          </p:nvPr>
        </p:nvSpPr>
        <p:spPr/>
        <p:txBody>
          <a:bodyPr/>
          <a:lstStyle/>
          <a:p>
            <a:fld id="{BD2F526B-7309-4F2A-8B9C-94F6667A0BBC}" type="slidenum">
              <a:t>3</a:t>
            </a:fld>
            <a:endParaRPr lang="en-US"/>
          </a:p>
        </p:txBody>
      </p:sp>
    </p:spTree>
    <p:extLst>
      <p:ext uri="{BB962C8B-B14F-4D97-AF65-F5344CB8AC3E}">
        <p14:creationId xmlns:p14="http://schemas.microsoft.com/office/powerpoint/2010/main" val="1102303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Existing Health Challenges and Environmental Legacy</a:t>
            </a:r>
          </a:p>
        </p:txBody>
      </p:sp>
      <p:sp>
        <p:nvSpPr>
          <p:cNvPr id="4" name="Slide Number Placeholder 3"/>
          <p:cNvSpPr>
            <a:spLocks noGrp="1"/>
          </p:cNvSpPr>
          <p:nvPr>
            <p:ph type="sldNum" sz="quarter" idx="5"/>
          </p:nvPr>
        </p:nvSpPr>
        <p:spPr/>
        <p:txBody>
          <a:bodyPr/>
          <a:lstStyle/>
          <a:p>
            <a:fld id="{BD2F526B-7309-4F2A-8B9C-94F6667A0BBC}" type="slidenum">
              <a:t>4</a:t>
            </a:fld>
            <a:endParaRPr lang="en-US"/>
          </a:p>
        </p:txBody>
      </p:sp>
    </p:spTree>
    <p:extLst>
      <p:ext uri="{BB962C8B-B14F-4D97-AF65-F5344CB8AC3E}">
        <p14:creationId xmlns:p14="http://schemas.microsoft.com/office/powerpoint/2010/main" val="3134708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affected communities already face significant health disparities, with North County residents experiencing a life expectancy that is 21 years lower than neighboring areas. This disparity is compounded by historical environmental contamination, including legacy uranium exposure, which has contributed to chronic health issues. These pre-existing vulnerabilities make the population particularly susceptible to additional risks such as radon exposure. Addressing these disparities requires a holistic approach that combines environmental remediation, public health interventions, and community education. By integrating radon mitigation into recovery efforts, stakeholders can help reduce cumulative health burdens and promote equity in disaster response. This approach not only addresses immediate risks but also contributes to long-term improvements in community health outcomes.</a:t>
            </a:r>
          </a:p>
        </p:txBody>
      </p:sp>
      <p:sp>
        <p:nvSpPr>
          <p:cNvPr id="4" name="Slide Number Placeholder 3"/>
          <p:cNvSpPr>
            <a:spLocks noGrp="1"/>
          </p:cNvSpPr>
          <p:nvPr>
            <p:ph type="sldNum" sz="quarter" idx="5"/>
          </p:nvPr>
        </p:nvSpPr>
        <p:spPr/>
        <p:txBody>
          <a:bodyPr/>
          <a:lstStyle/>
          <a:p>
            <a:fld id="{BD2F526B-7309-4F2A-8B9C-94F6667A0BBC}" type="slidenum">
              <a:t>5</a:t>
            </a:fld>
            <a:endParaRPr lang="en-US"/>
          </a:p>
        </p:txBody>
      </p:sp>
    </p:spTree>
    <p:extLst>
      <p:ext uri="{BB962C8B-B14F-4D97-AF65-F5344CB8AC3E}">
        <p14:creationId xmlns:p14="http://schemas.microsoft.com/office/powerpoint/2010/main" val="462748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Health Impact and Prevalence of Radon Exposure</a:t>
            </a:r>
          </a:p>
        </p:txBody>
      </p:sp>
      <p:sp>
        <p:nvSpPr>
          <p:cNvPr id="4" name="Slide Number Placeholder 3"/>
          <p:cNvSpPr>
            <a:spLocks noGrp="1"/>
          </p:cNvSpPr>
          <p:nvPr>
            <p:ph type="sldNum" sz="quarter" idx="5"/>
          </p:nvPr>
        </p:nvSpPr>
        <p:spPr/>
        <p:txBody>
          <a:bodyPr/>
          <a:lstStyle/>
          <a:p>
            <a:fld id="{BD2F526B-7309-4F2A-8B9C-94F6667A0BBC}" type="slidenum">
              <a:t>6</a:t>
            </a:fld>
            <a:endParaRPr lang="en-US"/>
          </a:p>
        </p:txBody>
      </p:sp>
    </p:spTree>
    <p:extLst>
      <p:ext uri="{BB962C8B-B14F-4D97-AF65-F5344CB8AC3E}">
        <p14:creationId xmlns:p14="http://schemas.microsoft.com/office/powerpoint/2010/main" val="1726777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Radon exposure is a leading cause of lung cancer among non-smokers, and its impact in the affected region is substantial. At Mercy Health alone, radon-related lung cancer accounts for an estimated 500 to 625 cases annually. Furthermore, data indicates that one in three homes in the area exceeds the EPA's recommended action level for radon concentration. These statistics highlight the pervasive nature of radon risk and the urgent need for intervention. Without targeted mitigation efforts, the reconstruction process could inadvertently perpetuate exposure, leading to preventable health outcomes. Public awareness campaigns, combined with systematic testing and remediation, are essential to reducing this burden. By prioritizing radon mitigation during recovery, communities can significantly lower future cancer incidence and improve overall health resilience.</a:t>
            </a:r>
          </a:p>
        </p:txBody>
      </p:sp>
      <p:sp>
        <p:nvSpPr>
          <p:cNvPr id="4" name="Slide Number Placeholder 3"/>
          <p:cNvSpPr>
            <a:spLocks noGrp="1"/>
          </p:cNvSpPr>
          <p:nvPr>
            <p:ph type="sldNum" sz="quarter" idx="5"/>
          </p:nvPr>
        </p:nvSpPr>
        <p:spPr/>
        <p:txBody>
          <a:bodyPr/>
          <a:lstStyle/>
          <a:p>
            <a:fld id="{BD2F526B-7309-4F2A-8B9C-94F6667A0BBC}" type="slidenum">
              <a:t>7</a:t>
            </a:fld>
            <a:endParaRPr lang="en-US"/>
          </a:p>
        </p:txBody>
      </p:sp>
    </p:spTree>
    <p:extLst>
      <p:ext uri="{BB962C8B-B14F-4D97-AF65-F5344CB8AC3E}">
        <p14:creationId xmlns:p14="http://schemas.microsoft.com/office/powerpoint/2010/main" val="17771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Leveraging Reconstruction for Radon Mitigation</a:t>
            </a:r>
          </a:p>
        </p:txBody>
      </p:sp>
      <p:sp>
        <p:nvSpPr>
          <p:cNvPr id="4" name="Slide Number Placeholder 3"/>
          <p:cNvSpPr>
            <a:spLocks noGrp="1"/>
          </p:cNvSpPr>
          <p:nvPr>
            <p:ph type="sldNum" sz="quarter" idx="5"/>
          </p:nvPr>
        </p:nvSpPr>
        <p:spPr/>
        <p:txBody>
          <a:bodyPr/>
          <a:lstStyle/>
          <a:p>
            <a:fld id="{BD2F526B-7309-4F2A-8B9C-94F6667A0BBC}" type="slidenum">
              <a:t>8</a:t>
            </a:fld>
            <a:endParaRPr lang="en-US"/>
          </a:p>
        </p:txBody>
      </p:sp>
    </p:spTree>
    <p:extLst>
      <p:ext uri="{BB962C8B-B14F-4D97-AF65-F5344CB8AC3E}">
        <p14:creationId xmlns:p14="http://schemas.microsoft.com/office/powerpoint/2010/main" val="3494470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post-tornado reconstruction phase presents a unique opportunity to integrate radon testing and mitigation into building practices. By incorporating radon-resistant construction techniques and remediation measures during repairs, communities can prevent 50 to 100 future cancer cases. This proactive approach is cost-effective compared to retrofitting homes later and ensures long-term safety for residents. Collaboration among local authorities, builders, and public health organizations is critical to implementing these measures effectively. Educational initiatives targeting homeowners and contractors can further enhance compliance and awareness. Seizing this opportunity not only addresses immediate structural concerns but also establishes a foundation for healthier living environments, reducing the cumulative impact of environmental hazards on vulnerable populations.</a:t>
            </a:r>
          </a:p>
        </p:txBody>
      </p:sp>
      <p:sp>
        <p:nvSpPr>
          <p:cNvPr id="4" name="Slide Number Placeholder 3"/>
          <p:cNvSpPr>
            <a:spLocks noGrp="1"/>
          </p:cNvSpPr>
          <p:nvPr>
            <p:ph type="sldNum" sz="quarter" idx="5"/>
          </p:nvPr>
        </p:nvSpPr>
        <p:spPr/>
        <p:txBody>
          <a:bodyPr/>
          <a:lstStyle/>
          <a:p>
            <a:fld id="{BD2F526B-7309-4F2A-8B9C-94F6667A0BBC}" type="slidenum">
              <a:t>9</a:t>
            </a:fld>
            <a:endParaRPr lang="en-US"/>
          </a:p>
        </p:txBody>
      </p:sp>
    </p:spTree>
    <p:extLst>
      <p:ext uri="{BB962C8B-B14F-4D97-AF65-F5344CB8AC3E}">
        <p14:creationId xmlns:p14="http://schemas.microsoft.com/office/powerpoint/2010/main" val="52946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Strategic Framework for Risk Management</a:t>
            </a:r>
          </a:p>
        </p:txBody>
      </p:sp>
      <p:sp>
        <p:nvSpPr>
          <p:cNvPr id="4" name="Slide Number Placeholder 3"/>
          <p:cNvSpPr>
            <a:spLocks noGrp="1"/>
          </p:cNvSpPr>
          <p:nvPr>
            <p:ph type="sldNum" sz="quarter" idx="5"/>
          </p:nvPr>
        </p:nvSpPr>
        <p:spPr/>
        <p:txBody>
          <a:bodyPr/>
          <a:lstStyle/>
          <a:p>
            <a:fld id="{BD2F526B-7309-4F2A-8B9C-94F6667A0BBC}" type="slidenum">
              <a:t>10</a:t>
            </a:fld>
            <a:endParaRPr lang="en-US"/>
          </a:p>
        </p:txBody>
      </p:sp>
    </p:spTree>
    <p:extLst>
      <p:ext uri="{BB962C8B-B14F-4D97-AF65-F5344CB8AC3E}">
        <p14:creationId xmlns:p14="http://schemas.microsoft.com/office/powerpoint/2010/main" val="525892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Radon Canvas Initiative is designed to provide a comprehensive framework for managing radon risk in disaster recovery. Key components include risk mapping to identify high-exposure areas, gap analysis to determine testing deficiencies, and prioritized outreach to vulnerable communities. Coordinated response efforts ensure that resources are allocated efficiently and interventions are implemented promptly. This initiative emphasizes collaboration among stakeholders, including public health agencies, local governments, and community organizations. By leveraging data-driven strategies, the Radon Canvas Initiative aims to create a sustainable model for radon mitigation that can be replicated in future disaster scenarios. Its holistic approach addresses both immediate needs and long-term resilience, making it a cornerstone of effective recovery planning.</a:t>
            </a:r>
          </a:p>
        </p:txBody>
      </p:sp>
      <p:sp>
        <p:nvSpPr>
          <p:cNvPr id="4" name="Slide Number Placeholder 3"/>
          <p:cNvSpPr>
            <a:spLocks noGrp="1"/>
          </p:cNvSpPr>
          <p:nvPr>
            <p:ph type="sldNum" sz="quarter" idx="5"/>
          </p:nvPr>
        </p:nvSpPr>
        <p:spPr/>
        <p:txBody>
          <a:bodyPr/>
          <a:lstStyle/>
          <a:p>
            <a:fld id="{BD2F526B-7309-4F2A-8B9C-94F6667A0BBC}" type="slidenum">
              <a:t>11</a:t>
            </a:fld>
            <a:endParaRPr lang="en-US"/>
          </a:p>
        </p:txBody>
      </p:sp>
    </p:spTree>
    <p:extLst>
      <p:ext uri="{BB962C8B-B14F-4D97-AF65-F5344CB8AC3E}">
        <p14:creationId xmlns:p14="http://schemas.microsoft.com/office/powerpoint/2010/main" val="849283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Radon Canvas Web Application Features</a:t>
            </a:r>
          </a:p>
        </p:txBody>
      </p:sp>
      <p:sp>
        <p:nvSpPr>
          <p:cNvPr id="4" name="Slide Number Placeholder 3"/>
          <p:cNvSpPr>
            <a:spLocks noGrp="1"/>
          </p:cNvSpPr>
          <p:nvPr>
            <p:ph type="sldNum" sz="quarter" idx="5"/>
          </p:nvPr>
        </p:nvSpPr>
        <p:spPr/>
        <p:txBody>
          <a:bodyPr/>
          <a:lstStyle/>
          <a:p>
            <a:fld id="{BD2F526B-7309-4F2A-8B9C-94F6667A0BBC}" type="slidenum">
              <a:t>12</a:t>
            </a:fld>
            <a:endParaRPr lang="en-US"/>
          </a:p>
        </p:txBody>
      </p:sp>
    </p:spTree>
    <p:extLst>
      <p:ext uri="{BB962C8B-B14F-4D97-AF65-F5344CB8AC3E}">
        <p14:creationId xmlns:p14="http://schemas.microsoft.com/office/powerpoint/2010/main" val="2164248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Radon Canvas web application serves as a centralized platform for managing radon risk information. It provides neighborhood-level data, household-specific details, and interactive mapping tools to visualize exposure patterns. Users can access resources, connect with certified mitigation providers, and obtain educational materials to guide remediation efforts. The app also includes reference libraries and real-time updates to support informed decision-making. By integrating technology into recovery efforts, the Radon Canvas app enhances transparency, facilitates community engagement, and streamlines coordination among stakeholders. Its user-friendly interface ensures accessibility for both residents and professionals, making it an essential tool for effective radon risk management.</a:t>
            </a:r>
          </a:p>
        </p:txBody>
      </p:sp>
      <p:sp>
        <p:nvSpPr>
          <p:cNvPr id="4" name="Slide Number Placeholder 3"/>
          <p:cNvSpPr>
            <a:spLocks noGrp="1"/>
          </p:cNvSpPr>
          <p:nvPr>
            <p:ph type="sldNum" sz="quarter" idx="5"/>
          </p:nvPr>
        </p:nvSpPr>
        <p:spPr/>
        <p:txBody>
          <a:bodyPr/>
          <a:lstStyle/>
          <a:p>
            <a:fld id="{BD2F526B-7309-4F2A-8B9C-94F6667A0BBC}" type="slidenum">
              <a:t>13</a:t>
            </a:fld>
            <a:endParaRPr lang="en-US"/>
          </a:p>
        </p:txBody>
      </p:sp>
    </p:spTree>
    <p:extLst>
      <p:ext uri="{BB962C8B-B14F-4D97-AF65-F5344CB8AC3E}">
        <p14:creationId xmlns:p14="http://schemas.microsoft.com/office/powerpoint/2010/main" val="164820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Immediate and Sustained Actions for Success</a:t>
            </a:r>
          </a:p>
        </p:txBody>
      </p:sp>
      <p:sp>
        <p:nvSpPr>
          <p:cNvPr id="4" name="Slide Number Placeholder 3"/>
          <p:cNvSpPr>
            <a:spLocks noGrp="1"/>
          </p:cNvSpPr>
          <p:nvPr>
            <p:ph type="sldNum" sz="quarter" idx="5"/>
          </p:nvPr>
        </p:nvSpPr>
        <p:spPr/>
        <p:txBody>
          <a:bodyPr/>
          <a:lstStyle/>
          <a:p>
            <a:fld id="{BD2F526B-7309-4F2A-8B9C-94F6667A0BBC}" type="slidenum">
              <a:t>14</a:t>
            </a:fld>
            <a:endParaRPr lang="en-US"/>
          </a:p>
        </p:txBody>
      </p:sp>
    </p:spTree>
    <p:extLst>
      <p:ext uri="{BB962C8B-B14F-4D97-AF65-F5344CB8AC3E}">
        <p14:creationId xmlns:p14="http://schemas.microsoft.com/office/powerpoint/2010/main" val="1097958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pathway for radon mitigation involves both immediate and long-term actions. In the short term, efforts focus on integrating radon testing into building permits, launching educational campaigns, and deploying the Radon Canvas app to connect residents with resources. These steps ensure rapid response and awareness during the critical reconstruction phase. Sustained actions include establishing stewardship programs, automating data collection, and tracking progress over time. Continuous monitoring and community engagement are essential to maintaining momentum and achieving lasting impact. By combining immediate interventions with strategic planning, stakeholders can create a robust framework for reducing radon exposure and improving public health outcomes.</a:t>
            </a:r>
          </a:p>
        </p:txBody>
      </p:sp>
      <p:sp>
        <p:nvSpPr>
          <p:cNvPr id="4" name="Slide Number Placeholder 3"/>
          <p:cNvSpPr>
            <a:spLocks noGrp="1"/>
          </p:cNvSpPr>
          <p:nvPr>
            <p:ph type="sldNum" sz="quarter" idx="5"/>
          </p:nvPr>
        </p:nvSpPr>
        <p:spPr/>
        <p:txBody>
          <a:bodyPr/>
          <a:lstStyle/>
          <a:p>
            <a:fld id="{BD2F526B-7309-4F2A-8B9C-94F6667A0BBC}" type="slidenum">
              <a:t>15</a:t>
            </a:fld>
            <a:endParaRPr lang="en-US"/>
          </a:p>
        </p:txBody>
      </p:sp>
    </p:spTree>
    <p:extLst>
      <p:ext uri="{BB962C8B-B14F-4D97-AF65-F5344CB8AC3E}">
        <p14:creationId xmlns:p14="http://schemas.microsoft.com/office/powerpoint/2010/main" val="3753947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1/15/2026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1/15/2026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1/15/2026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1/15/2026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1/15/2026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1/15/2026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1/15/2026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1/15/2026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1/15/2026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1/15/2026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1/15/2026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1/15/2026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1/15/2026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1/15/2026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1/15/2026</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1/15/2026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1/15/2026</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1/15/2026</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1/15/2026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1/15/2026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1/15/2026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1/15/2026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1/15/2026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1/15/2026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1/15/2026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1/15/2026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1/15/2026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1/15/2026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1/15/2026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1/15/2026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1/15/2026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1/15/2026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1/15/2026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DD69-C393-2C92-FE1F-952D4F2EE658}"/>
              </a:ext>
            </a:extLst>
          </p:cNvPr>
          <p:cNvSpPr>
            <a:spLocks noGrp="1"/>
          </p:cNvSpPr>
          <p:nvPr>
            <p:ph type="ctrTitle"/>
          </p:nvPr>
        </p:nvSpPr>
        <p:spPr>
          <a:xfrm>
            <a:off x="457200" y="457200"/>
            <a:ext cx="4025153" cy="3739896"/>
          </a:xfrm>
        </p:spPr>
        <p:txBody>
          <a:bodyPr anchor="t">
            <a:normAutofit/>
          </a:bodyPr>
          <a:lstStyle/>
          <a:p>
            <a:r>
              <a:rPr lang="en-US"/>
              <a:t>Radon Risk and Recovery Strategy Post-Tornado</a:t>
            </a:r>
          </a:p>
        </p:txBody>
      </p:sp>
      <p:sp>
        <p:nvSpPr>
          <p:cNvPr id="3" name="Subtitle 2">
            <a:extLst>
              <a:ext uri="{FF2B5EF4-FFF2-40B4-BE49-F238E27FC236}">
                <a16:creationId xmlns:a16="http://schemas.microsoft.com/office/drawing/2014/main" id="{FE0BB1EC-320F-BAFF-E4CB-4981858DB3A0}"/>
              </a:ext>
            </a:extLst>
          </p:cNvPr>
          <p:cNvSpPr>
            <a:spLocks noGrp="1"/>
          </p:cNvSpPr>
          <p:nvPr>
            <p:ph type="subTitle" idx="1"/>
          </p:nvPr>
        </p:nvSpPr>
        <p:spPr>
          <a:xfrm>
            <a:off x="457200" y="5332780"/>
            <a:ext cx="4025153" cy="1016813"/>
          </a:xfrm>
        </p:spPr>
        <p:txBody>
          <a:bodyPr anchor="ctr">
            <a:normAutofit/>
          </a:bodyPr>
          <a:lstStyle/>
          <a:p>
            <a:r>
              <a:rPr lang="en-US"/>
              <a:t>Addressing radon hazards after severe storm damage</a:t>
            </a:r>
          </a:p>
        </p:txBody>
      </p:sp>
      <p:pic>
        <p:nvPicPr>
          <p:cNvPr id="4" name="Picture 3" descr="Homeowner renovating their home, the steamer sits on the floor during the stripping of the old wallpaper to do some home improvements">
            <a:extLst>
              <a:ext uri="{FF2B5EF4-FFF2-40B4-BE49-F238E27FC236}">
                <a16:creationId xmlns:a16="http://schemas.microsoft.com/office/drawing/2014/main" id="{66CC90E8-F196-4395-9318-E843A70D10C5}"/>
              </a:ext>
            </a:extLst>
          </p:cNvPr>
          <p:cNvPicPr>
            <a:picLocks noChangeAspect="1"/>
          </p:cNvPicPr>
          <p:nvPr/>
        </p:nvPicPr>
        <p:blipFill>
          <a:blip r:embed="rId3"/>
          <a:srcRect r="24798" b="-2"/>
          <a:stretch>
            <a:fillRect/>
          </a:stretch>
        </p:blipFill>
        <p:spPr>
          <a:xfrm>
            <a:off x="5029201" y="10"/>
            <a:ext cx="7162800" cy="6857990"/>
          </a:xfrm>
          <a:prstGeom prst="rect">
            <a:avLst/>
          </a:prstGeom>
        </p:spPr>
      </p:pic>
    </p:spTree>
    <p:extLst>
      <p:ext uri="{BB962C8B-B14F-4D97-AF65-F5344CB8AC3E}">
        <p14:creationId xmlns:p14="http://schemas.microsoft.com/office/powerpoint/2010/main" val="63642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D1DB-0C46-808A-1A87-552B37B8337E}"/>
              </a:ext>
            </a:extLst>
          </p:cNvPr>
          <p:cNvSpPr>
            <a:spLocks noGrp="1"/>
          </p:cNvSpPr>
          <p:nvPr>
            <p:ph type="ctrTitle"/>
          </p:nvPr>
        </p:nvSpPr>
        <p:spPr>
          <a:xfrm>
            <a:off x="457197" y="3507830"/>
            <a:ext cx="7772400" cy="2944368"/>
          </a:xfrm>
        </p:spPr>
        <p:txBody>
          <a:bodyPr anchor="b">
            <a:normAutofit/>
          </a:bodyPr>
          <a:lstStyle/>
          <a:p>
            <a:r>
              <a:rPr lang="en-US" sz="7400"/>
              <a:t>Radon Risk in Tornado Recovery</a:t>
            </a:r>
          </a:p>
        </p:txBody>
      </p:sp>
    </p:spTree>
    <p:extLst>
      <p:ext uri="{BB962C8B-B14F-4D97-AF65-F5344CB8AC3E}">
        <p14:creationId xmlns:p14="http://schemas.microsoft.com/office/powerpoint/2010/main" val="11418058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7A03-ACF8-57F8-8AA8-F483782EF53C}"/>
              </a:ext>
            </a:extLst>
          </p:cNvPr>
          <p:cNvSpPr>
            <a:spLocks noGrp="1"/>
          </p:cNvSpPr>
          <p:nvPr>
            <p:ph type="title"/>
          </p:nvPr>
        </p:nvSpPr>
        <p:spPr>
          <a:xfrm>
            <a:off x="457200" y="457200"/>
            <a:ext cx="4380272" cy="1453896"/>
          </a:xfrm>
        </p:spPr>
        <p:txBody>
          <a:bodyPr anchor="t">
            <a:normAutofit/>
          </a:bodyPr>
          <a:lstStyle/>
          <a:p>
            <a:r>
              <a:rPr lang="en-US"/>
              <a:t>Impact of EF3 Tornado on Structures and Radon Exposure</a:t>
            </a:r>
          </a:p>
        </p:txBody>
      </p:sp>
      <p:pic>
        <p:nvPicPr>
          <p:cNvPr id="5" name="Content Placeholder 4" descr="Homes destroyed on a street in Ramrod Key in Florida Keys by Hurricane Irma. Power was knocked out in the community. Shot taken with Canon 5D Mark lV.">
            <a:extLst>
              <a:ext uri="{FF2B5EF4-FFF2-40B4-BE49-F238E27FC236}">
                <a16:creationId xmlns:a16="http://schemas.microsoft.com/office/drawing/2014/main" id="{94EF9129-C15D-4D6F-B9EA-B73A0F701F59}"/>
              </a:ext>
            </a:extLst>
          </p:cNvPr>
          <p:cNvPicPr>
            <a:picLocks noGrp="1" noChangeAspect="1"/>
          </p:cNvPicPr>
          <p:nvPr>
            <p:ph type="pic" sz="quarter" idx="13"/>
          </p:nvPr>
        </p:nvPicPr>
        <p:blipFill>
          <a:blip r:embed="rId3"/>
          <a:srcRect l="10415" r="9980"/>
          <a:stretch>
            <a:fillRect/>
          </a:stretch>
        </p:blipFill>
        <p:spPr>
          <a:xfrm>
            <a:off x="20" y="2175642"/>
            <a:ext cx="5584186" cy="4682358"/>
          </a:xfrm>
        </p:spPr>
      </p:pic>
      <p:sp>
        <p:nvSpPr>
          <p:cNvPr id="4" name="Content Placeholder 3">
            <a:extLst>
              <a:ext uri="{FF2B5EF4-FFF2-40B4-BE49-F238E27FC236}">
                <a16:creationId xmlns:a16="http://schemas.microsoft.com/office/drawing/2014/main" id="{25E9C706-E55B-780D-11CC-FC1B44704B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Structural Damage from EF3 Tornado</a:t>
            </a:r>
          </a:p>
          <a:p>
            <a:pPr marL="0" lvl="1" indent="0">
              <a:buFont typeface="Arial" panose="020B0604020202020204" pitchFamily="34" charset="0"/>
              <a:buNone/>
            </a:pPr>
            <a:r>
              <a:t>The EF3 tornado severely damaged around 5,000 buildings, compromising structural integrity and safety.</a:t>
            </a:r>
            <a:endParaRPr lang="en-US"/>
          </a:p>
          <a:p>
            <a:pPr marL="0" indent="0">
              <a:spcBef>
                <a:spcPts val="2500"/>
              </a:spcBef>
              <a:buFont typeface="Arial" panose="020B0604020202020204" pitchFamily="34" charset="0"/>
              <a:buNone/>
            </a:pPr>
            <a:r>
              <a:rPr lang="en-US" b="1"/>
              <a:t>Radon Infiltration Risk</a:t>
            </a:r>
          </a:p>
          <a:p>
            <a:pPr marL="0" lvl="1" indent="0">
              <a:buFont typeface="Arial" panose="020B0604020202020204" pitchFamily="34" charset="0"/>
              <a:buNone/>
            </a:pPr>
            <a:r>
              <a:t>Radon gas can enter damaged homes through cracks and openings, increasing health risks significantly.</a:t>
            </a:r>
            <a:endParaRPr lang="en-US"/>
          </a:p>
          <a:p>
            <a:pPr marL="0" indent="0">
              <a:spcBef>
                <a:spcPts val="2500"/>
              </a:spcBef>
              <a:buFont typeface="Arial" panose="020B0604020202020204" pitchFamily="34" charset="0"/>
              <a:buNone/>
            </a:pPr>
            <a:r>
              <a:rPr lang="en-US" b="1"/>
              <a:t>Necessity of Radon Testing</a:t>
            </a:r>
          </a:p>
          <a:p>
            <a:pPr marL="0" lvl="1" indent="0">
              <a:buFont typeface="Arial" panose="020B0604020202020204" pitchFamily="34" charset="0"/>
              <a:buNone/>
            </a:pPr>
            <a:r>
              <a:t>Integrating radon testing and mitigation in recovery efforts is vital to protect residents from long-term health issues.</a:t>
            </a:r>
            <a:endParaRPr lang="en-US"/>
          </a:p>
          <a:p>
            <a:pPr marL="0" indent="0">
              <a:spcBef>
                <a:spcPts val="2500"/>
              </a:spcBef>
              <a:buFont typeface="Arial" panose="020B0604020202020204" pitchFamily="34" charset="0"/>
              <a:buNone/>
            </a:pPr>
            <a:r>
              <a:rPr lang="en-US" b="1"/>
              <a:t>Health Impact Awareness</a:t>
            </a:r>
          </a:p>
          <a:p>
            <a:pPr marL="0" lvl="1" indent="0">
              <a:buFont typeface="Arial" panose="020B0604020202020204" pitchFamily="34" charset="0"/>
              <a:buNone/>
            </a:pPr>
            <a:r>
              <a:t>Addressing radon exposure early can prevent diseases like lung cancer linked to prolonged radon inhalation.</a:t>
            </a:r>
            <a:endParaRPr lang="en-US"/>
          </a:p>
        </p:txBody>
      </p:sp>
    </p:spTree>
    <p:extLst>
      <p:ext uri="{BB962C8B-B14F-4D97-AF65-F5344CB8AC3E}">
        <p14:creationId xmlns:p14="http://schemas.microsoft.com/office/powerpoint/2010/main" val="3861415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05693-85C8-FD0B-8E31-3C8EF86B1D61}"/>
              </a:ext>
            </a:extLst>
          </p:cNvPr>
          <p:cNvSpPr>
            <a:spLocks noGrp="1"/>
          </p:cNvSpPr>
          <p:nvPr>
            <p:ph type="ctrTitle"/>
          </p:nvPr>
        </p:nvSpPr>
        <p:spPr>
          <a:xfrm>
            <a:off x="457197" y="3507830"/>
            <a:ext cx="7772400" cy="2944368"/>
          </a:xfrm>
        </p:spPr>
        <p:txBody>
          <a:bodyPr anchor="b">
            <a:normAutofit/>
          </a:bodyPr>
          <a:lstStyle/>
          <a:p>
            <a:r>
              <a:rPr lang="en-US" sz="7400"/>
              <a:t>Community Health Disparities</a:t>
            </a:r>
          </a:p>
        </p:txBody>
      </p:sp>
    </p:spTree>
    <p:extLst>
      <p:ext uri="{BB962C8B-B14F-4D97-AF65-F5344CB8AC3E}">
        <p14:creationId xmlns:p14="http://schemas.microsoft.com/office/powerpoint/2010/main" val="997034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C1BF6-C8DF-73AB-0FC5-F26BB5F13C82}"/>
              </a:ext>
            </a:extLst>
          </p:cNvPr>
          <p:cNvSpPr>
            <a:spLocks noGrp="1"/>
          </p:cNvSpPr>
          <p:nvPr>
            <p:ph type="title"/>
          </p:nvPr>
        </p:nvSpPr>
        <p:spPr>
          <a:xfrm>
            <a:off x="457199" y="457200"/>
            <a:ext cx="4482573" cy="1453896"/>
          </a:xfrm>
        </p:spPr>
        <p:txBody>
          <a:bodyPr anchor="t">
            <a:normAutofit/>
          </a:bodyPr>
          <a:lstStyle/>
          <a:p>
            <a:r>
              <a:rPr lang="en-US"/>
              <a:t>Existing Health Challenges and Environmental Legacy</a:t>
            </a:r>
          </a:p>
        </p:txBody>
      </p:sp>
      <p:pic>
        <p:nvPicPr>
          <p:cNvPr id="5" name="Content Placeholder 4" descr="Global team">
            <a:extLst>
              <a:ext uri="{FF2B5EF4-FFF2-40B4-BE49-F238E27FC236}">
                <a16:creationId xmlns:a16="http://schemas.microsoft.com/office/drawing/2014/main" id="{7862606D-FA43-4B9C-8420-D6C0F436D794}"/>
              </a:ext>
            </a:extLst>
          </p:cNvPr>
          <p:cNvPicPr>
            <a:picLocks noGrp="1" noChangeAspect="1"/>
          </p:cNvPicPr>
          <p:nvPr>
            <p:ph type="pic" sz="quarter" idx="13"/>
          </p:nvPr>
        </p:nvPicPr>
        <p:blipFill>
          <a:blip r:embed="rId3"/>
          <a:srcRect l="16480" r="12638"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DAD015D0-62E2-3891-5EC7-6E8DE268D63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Health Disparities in North County</a:t>
            </a:r>
          </a:p>
          <a:p>
            <a:pPr marL="0" lvl="1" indent="0">
              <a:buFont typeface="Arial" panose="020B0604020202020204" pitchFamily="34" charset="0"/>
              <a:buNone/>
            </a:pPr>
            <a:r>
              <a:t>North County residents face a 21-year lower life expectancy compared to neighboring areas, highlighting serious health disparities.</a:t>
            </a:r>
            <a:endParaRPr lang="en-US"/>
          </a:p>
          <a:p>
            <a:pPr marL="0" indent="0">
              <a:spcBef>
                <a:spcPts val="2500"/>
              </a:spcBef>
              <a:buFont typeface="Arial" panose="020B0604020202020204" pitchFamily="34" charset="0"/>
              <a:buNone/>
            </a:pPr>
            <a:r>
              <a:rPr lang="en-US" b="1"/>
              <a:t>Legacy Environmental Contamination</a:t>
            </a:r>
          </a:p>
          <a:p>
            <a:pPr marL="0" lvl="1" indent="0">
              <a:buFont typeface="Arial" panose="020B0604020202020204" pitchFamily="34" charset="0"/>
              <a:buNone/>
            </a:pPr>
            <a:r>
              <a:t>Historical uranium exposure has contributed to chronic health issues in the affected communities, worsening health outcomes.</a:t>
            </a:r>
            <a:endParaRPr lang="en-US"/>
          </a:p>
          <a:p>
            <a:pPr marL="0" indent="0">
              <a:spcBef>
                <a:spcPts val="2500"/>
              </a:spcBef>
              <a:buFont typeface="Arial" panose="020B0604020202020204" pitchFamily="34" charset="0"/>
              <a:buNone/>
            </a:pPr>
            <a:r>
              <a:rPr lang="en-US" b="1"/>
              <a:t>Radon Exposure Risks</a:t>
            </a:r>
          </a:p>
          <a:p>
            <a:pPr marL="0" lvl="1" indent="0">
              <a:buFont typeface="Arial" panose="020B0604020202020204" pitchFamily="34" charset="0"/>
              <a:buNone/>
            </a:pPr>
            <a:r>
              <a:t>Pre-existing vulnerabilities increase susceptibility to radon exposure, adding to the community’s health risks.</a:t>
            </a:r>
            <a:endParaRPr lang="en-US"/>
          </a:p>
          <a:p>
            <a:pPr marL="0" indent="0">
              <a:spcBef>
                <a:spcPts val="2500"/>
              </a:spcBef>
              <a:buFont typeface="Arial" panose="020B0604020202020204" pitchFamily="34" charset="0"/>
              <a:buNone/>
            </a:pPr>
            <a:r>
              <a:rPr lang="en-US" b="1"/>
              <a:t>Holistic Mitigation Approach</a:t>
            </a:r>
          </a:p>
          <a:p>
            <a:pPr marL="0" lvl="1" indent="0">
              <a:buFont typeface="Arial" panose="020B0604020202020204" pitchFamily="34" charset="0"/>
              <a:buNone/>
            </a:pPr>
            <a:r>
              <a:t>Combining environmental cleanup, public health initiatives, and education helps reduce health burdens and promote equity.</a:t>
            </a:r>
            <a:endParaRPr lang="en-US"/>
          </a:p>
        </p:txBody>
      </p:sp>
    </p:spTree>
    <p:extLst>
      <p:ext uri="{BB962C8B-B14F-4D97-AF65-F5344CB8AC3E}">
        <p14:creationId xmlns:p14="http://schemas.microsoft.com/office/powerpoint/2010/main" val="1953387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0C64E-369F-E27B-C1C5-742BD11FBF7D}"/>
              </a:ext>
            </a:extLst>
          </p:cNvPr>
          <p:cNvSpPr>
            <a:spLocks noGrp="1"/>
          </p:cNvSpPr>
          <p:nvPr>
            <p:ph type="ctrTitle"/>
          </p:nvPr>
        </p:nvSpPr>
        <p:spPr>
          <a:xfrm>
            <a:off x="457197" y="3507830"/>
            <a:ext cx="7772400" cy="2944368"/>
          </a:xfrm>
        </p:spPr>
        <p:txBody>
          <a:bodyPr anchor="b">
            <a:normAutofit/>
          </a:bodyPr>
          <a:lstStyle/>
          <a:p>
            <a:r>
              <a:rPr lang="en-US"/>
              <a:t>Radon Burden</a:t>
            </a:r>
          </a:p>
        </p:txBody>
      </p:sp>
    </p:spTree>
    <p:extLst>
      <p:ext uri="{BB962C8B-B14F-4D97-AF65-F5344CB8AC3E}">
        <p14:creationId xmlns:p14="http://schemas.microsoft.com/office/powerpoint/2010/main" val="3387422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B1D2-BA14-5735-9EB8-69E95E37A5DA}"/>
              </a:ext>
            </a:extLst>
          </p:cNvPr>
          <p:cNvSpPr>
            <a:spLocks noGrp="1"/>
          </p:cNvSpPr>
          <p:nvPr>
            <p:ph type="title"/>
          </p:nvPr>
        </p:nvSpPr>
        <p:spPr>
          <a:xfrm>
            <a:off x="4541264" y="320040"/>
            <a:ext cx="7062472" cy="1105348"/>
          </a:xfrm>
        </p:spPr>
        <p:txBody>
          <a:bodyPr anchor="b">
            <a:normAutofit/>
          </a:bodyPr>
          <a:lstStyle/>
          <a:p>
            <a:r>
              <a:rPr lang="en-US"/>
              <a:t>Health Impact and Prevalence of Radon Exposure</a:t>
            </a:r>
          </a:p>
        </p:txBody>
      </p:sp>
      <p:pic>
        <p:nvPicPr>
          <p:cNvPr id="5" name="Content Placeholder 4" descr="Geiger counter radiation measurement in Chernobyl">
            <a:extLst>
              <a:ext uri="{FF2B5EF4-FFF2-40B4-BE49-F238E27FC236}">
                <a16:creationId xmlns:a16="http://schemas.microsoft.com/office/drawing/2014/main" id="{4A7A5615-163B-447F-A224-77941BC13109}"/>
              </a:ext>
            </a:extLst>
          </p:cNvPr>
          <p:cNvPicPr>
            <a:picLocks noGrp="1" noChangeAspect="1"/>
          </p:cNvPicPr>
          <p:nvPr>
            <p:ph type="pic" sz="quarter" idx="13"/>
          </p:nvPr>
        </p:nvPicPr>
        <p:blipFill>
          <a:blip r:embed="rId3"/>
          <a:srcRect l="2336" r="19509"/>
          <a:stretch>
            <a:fillRect/>
          </a:stretch>
        </p:blipFill>
        <p:spPr>
          <a:xfrm>
            <a:off x="20" y="1"/>
            <a:ext cx="4019910" cy="6858000"/>
          </a:xfrm>
        </p:spPr>
      </p:pic>
      <p:sp>
        <p:nvSpPr>
          <p:cNvPr id="4" name="Content Placeholder 3">
            <a:extLst>
              <a:ext uri="{FF2B5EF4-FFF2-40B4-BE49-F238E27FC236}">
                <a16:creationId xmlns:a16="http://schemas.microsoft.com/office/drawing/2014/main" id="{9FBBC312-A67D-7FA7-1561-CC16C5DE0B7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a:t>Radon Health Risks</a:t>
            </a:r>
          </a:p>
          <a:p>
            <a:pPr marL="0" lvl="1" indent="0">
              <a:buNone/>
            </a:pPr>
            <a:r>
              <a:t>Radon is a leading cause of lung cancer among non-smokers, causing hundreds of cases annually </a:t>
            </a:r>
            <a:r>
              <a:rPr lang="en-US"/>
              <a:t>in the region</a:t>
            </a:r>
            <a:r>
              <a:t>.</a:t>
            </a:r>
            <a:endParaRPr lang="en-US"/>
          </a:p>
          <a:p>
            <a:pPr marL="0" indent="0">
              <a:spcBef>
                <a:spcPts val="2500"/>
              </a:spcBef>
              <a:buFont typeface="Arial" panose="020B0604020202020204" pitchFamily="34" charset="0"/>
              <a:buNone/>
            </a:pPr>
            <a:r>
              <a:rPr lang="en-US" b="1"/>
              <a:t>Radon Prevalence in Homes</a:t>
            </a:r>
          </a:p>
          <a:p>
            <a:pPr marL="0" lvl="1" indent="0">
              <a:buFont typeface="Arial" panose="020B0604020202020204" pitchFamily="34" charset="0"/>
              <a:buNone/>
            </a:pPr>
            <a:r>
              <a:t>One in three homes in the affected area exceeds EPA recommended radon levels, increasing risk for residents.</a:t>
            </a:r>
            <a:endParaRPr lang="en-US"/>
          </a:p>
          <a:p>
            <a:pPr marL="0" indent="0">
              <a:spcBef>
                <a:spcPts val="2500"/>
              </a:spcBef>
              <a:buFont typeface="Arial" panose="020B0604020202020204" pitchFamily="34" charset="0"/>
              <a:buNone/>
            </a:pPr>
            <a:r>
              <a:rPr lang="en-US" b="1"/>
              <a:t>Need for Mitigation</a:t>
            </a:r>
          </a:p>
          <a:p>
            <a:pPr marL="0" lvl="1" indent="0">
              <a:buFont typeface="Arial" panose="020B0604020202020204" pitchFamily="34" charset="0"/>
              <a:buNone/>
            </a:pPr>
            <a:r>
              <a:t>Effective radon mitigation and public awareness are essential to reduce exposure and prevent future health problems.</a:t>
            </a:r>
            <a:endParaRPr lang="en-US"/>
          </a:p>
          <a:p>
            <a:pPr marL="0" indent="0">
              <a:spcBef>
                <a:spcPts val="2500"/>
              </a:spcBef>
              <a:buFont typeface="Arial" panose="020B0604020202020204" pitchFamily="34" charset="0"/>
              <a:buNone/>
            </a:pPr>
            <a:r>
              <a:rPr lang="en-US" b="1"/>
              <a:t>Community Health Resilience</a:t>
            </a:r>
          </a:p>
          <a:p>
            <a:pPr marL="0" lvl="1" indent="0">
              <a:buFont typeface="Arial" panose="020B0604020202020204" pitchFamily="34" charset="0"/>
              <a:buNone/>
            </a:pPr>
            <a:r>
              <a:t>Prioritizing radon risk reduction during recovery boosts community health and lowers cancer incidence.</a:t>
            </a:r>
            <a:endParaRPr lang="en-US"/>
          </a:p>
        </p:txBody>
      </p:sp>
    </p:spTree>
    <p:extLst>
      <p:ext uri="{BB962C8B-B14F-4D97-AF65-F5344CB8AC3E}">
        <p14:creationId xmlns:p14="http://schemas.microsoft.com/office/powerpoint/2010/main" val="6024947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35BB-1BDC-4307-6CD3-22760E239A0F}"/>
              </a:ext>
            </a:extLst>
          </p:cNvPr>
          <p:cNvSpPr>
            <a:spLocks noGrp="1"/>
          </p:cNvSpPr>
          <p:nvPr>
            <p:ph type="ctrTitle"/>
          </p:nvPr>
        </p:nvSpPr>
        <p:spPr>
          <a:xfrm>
            <a:off x="457197" y="3507830"/>
            <a:ext cx="7772400" cy="2944368"/>
          </a:xfrm>
        </p:spPr>
        <p:txBody>
          <a:bodyPr anchor="b">
            <a:normAutofit/>
          </a:bodyPr>
          <a:lstStyle/>
          <a:p>
            <a:r>
              <a:rPr lang="en-US"/>
              <a:t>Opportunity Window</a:t>
            </a:r>
          </a:p>
        </p:txBody>
      </p:sp>
    </p:spTree>
    <p:extLst>
      <p:ext uri="{BB962C8B-B14F-4D97-AF65-F5344CB8AC3E}">
        <p14:creationId xmlns:p14="http://schemas.microsoft.com/office/powerpoint/2010/main" val="17388726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86071-F5BB-730F-89FC-F075E9EC4032}"/>
              </a:ext>
            </a:extLst>
          </p:cNvPr>
          <p:cNvSpPr>
            <a:spLocks noGrp="1"/>
          </p:cNvSpPr>
          <p:nvPr>
            <p:ph type="title"/>
          </p:nvPr>
        </p:nvSpPr>
        <p:spPr>
          <a:xfrm>
            <a:off x="457200" y="457200"/>
            <a:ext cx="4380272" cy="1453896"/>
          </a:xfrm>
        </p:spPr>
        <p:txBody>
          <a:bodyPr anchor="t">
            <a:normAutofit/>
          </a:bodyPr>
          <a:lstStyle/>
          <a:p>
            <a:r>
              <a:rPr lang="en-US"/>
              <a:t>Leveraging Reconstruction for Radon Mitigation</a:t>
            </a:r>
          </a:p>
        </p:txBody>
      </p:sp>
      <p:pic>
        <p:nvPicPr>
          <p:cNvPr id="5" name="Content Placeholder 4" descr="Green and bio architecture and construction concepts, for a sustainable environment">
            <a:extLst>
              <a:ext uri="{FF2B5EF4-FFF2-40B4-BE49-F238E27FC236}">
                <a16:creationId xmlns:a16="http://schemas.microsoft.com/office/drawing/2014/main" id="{D9F1BA04-460E-4A54-8684-BD4C1D5C2FC1}"/>
              </a:ext>
            </a:extLst>
          </p:cNvPr>
          <p:cNvPicPr>
            <a:picLocks noGrp="1" noChangeAspect="1"/>
          </p:cNvPicPr>
          <p:nvPr>
            <p:ph type="pic" sz="quarter" idx="13"/>
          </p:nvPr>
        </p:nvPicPr>
        <p:blipFill>
          <a:blip r:embed="rId3"/>
          <a:srcRect l="14979" r="27180"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21B8E2E6-CC40-564F-EB0C-33D4F0A0C09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Radon Mitigation in Reconstruction</a:t>
            </a:r>
          </a:p>
          <a:p>
            <a:pPr marL="0" lvl="1" indent="0">
              <a:buFont typeface="Arial" panose="020B0604020202020204" pitchFamily="34" charset="0"/>
              <a:buNone/>
            </a:pPr>
            <a:r>
              <a:t>Integrating radon-resistant building techniques during post-tornado repairs prevents future health risks cost-effectively.</a:t>
            </a:r>
            <a:endParaRPr lang="en-US"/>
          </a:p>
          <a:p>
            <a:pPr marL="0" indent="0">
              <a:spcBef>
                <a:spcPts val="2500"/>
              </a:spcBef>
              <a:buFont typeface="Arial" panose="020B0604020202020204" pitchFamily="34" charset="0"/>
              <a:buNone/>
            </a:pPr>
            <a:r>
              <a:rPr lang="en-US" b="1"/>
              <a:t>Collaborative Implementation</a:t>
            </a:r>
          </a:p>
          <a:p>
            <a:pPr marL="0" lvl="1" indent="0">
              <a:buFont typeface="Arial" panose="020B0604020202020204" pitchFamily="34" charset="0"/>
              <a:buNone/>
            </a:pPr>
            <a:r>
              <a:t>Effective radon mitigation requires cooperation among local authorities, builders, and public health organizations.</a:t>
            </a:r>
            <a:endParaRPr lang="en-US"/>
          </a:p>
          <a:p>
            <a:pPr marL="0" indent="0">
              <a:spcBef>
                <a:spcPts val="2500"/>
              </a:spcBef>
              <a:buFont typeface="Arial" panose="020B0604020202020204" pitchFamily="34" charset="0"/>
              <a:buNone/>
            </a:pPr>
            <a:r>
              <a:rPr lang="en-US" b="1"/>
              <a:t>Education and Awareness</a:t>
            </a:r>
          </a:p>
          <a:p>
            <a:pPr marL="0" lvl="1" indent="0">
              <a:buFont typeface="Arial" panose="020B0604020202020204" pitchFamily="34" charset="0"/>
              <a:buNone/>
            </a:pPr>
            <a:r>
              <a:t>Educational programs for homeowners and contractors increase compliance and promote radon safety awareness.</a:t>
            </a:r>
            <a:endParaRPr lang="en-US"/>
          </a:p>
          <a:p>
            <a:pPr marL="0" indent="0">
              <a:spcBef>
                <a:spcPts val="2500"/>
              </a:spcBef>
              <a:buFont typeface="Arial" panose="020B0604020202020204" pitchFamily="34" charset="0"/>
              <a:buNone/>
            </a:pPr>
            <a:r>
              <a:rPr lang="en-US" b="1"/>
              <a:t>Long-term Health Benefits</a:t>
            </a:r>
          </a:p>
          <a:p>
            <a:pPr marL="0" lvl="1" indent="0">
              <a:buFont typeface="Arial" panose="020B0604020202020204" pitchFamily="34" charset="0"/>
              <a:buNone/>
            </a:pPr>
            <a:r>
              <a:t>Proactive radon mitigation during reconstruction fosters healthier living environments and reduces cancer risks.</a:t>
            </a:r>
            <a:endParaRPr lang="en-US"/>
          </a:p>
        </p:txBody>
      </p:sp>
    </p:spTree>
    <p:extLst>
      <p:ext uri="{BB962C8B-B14F-4D97-AF65-F5344CB8AC3E}">
        <p14:creationId xmlns:p14="http://schemas.microsoft.com/office/powerpoint/2010/main" val="3892734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E0445-29C3-AAEE-1AC1-DF0852AA4028}"/>
              </a:ext>
            </a:extLst>
          </p:cNvPr>
          <p:cNvSpPr>
            <a:spLocks noGrp="1"/>
          </p:cNvSpPr>
          <p:nvPr>
            <p:ph type="ctrTitle"/>
          </p:nvPr>
        </p:nvSpPr>
        <p:spPr>
          <a:xfrm>
            <a:off x="457197" y="3507830"/>
            <a:ext cx="7772400" cy="2944368"/>
          </a:xfrm>
        </p:spPr>
        <p:txBody>
          <a:bodyPr anchor="b">
            <a:normAutofit/>
          </a:bodyPr>
          <a:lstStyle/>
          <a:p>
            <a:r>
              <a:rPr lang="en-US"/>
              <a:t>Radon Canvas Initiative</a:t>
            </a:r>
          </a:p>
        </p:txBody>
      </p:sp>
    </p:spTree>
    <p:extLst>
      <p:ext uri="{BB962C8B-B14F-4D97-AF65-F5344CB8AC3E}">
        <p14:creationId xmlns:p14="http://schemas.microsoft.com/office/powerpoint/2010/main" val="20020490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7CCB5-FBC6-535E-F32D-905938F50DB5}"/>
              </a:ext>
            </a:extLst>
          </p:cNvPr>
          <p:cNvSpPr>
            <a:spLocks noGrp="1"/>
          </p:cNvSpPr>
          <p:nvPr>
            <p:ph type="title"/>
          </p:nvPr>
        </p:nvSpPr>
        <p:spPr>
          <a:xfrm>
            <a:off x="457200" y="457200"/>
            <a:ext cx="4380272" cy="1453896"/>
          </a:xfrm>
        </p:spPr>
        <p:txBody>
          <a:bodyPr anchor="t">
            <a:normAutofit/>
          </a:bodyPr>
          <a:lstStyle/>
          <a:p>
            <a:r>
              <a:rPr lang="en-US"/>
              <a:t>Strategic Framework for Risk Management</a:t>
            </a:r>
          </a:p>
        </p:txBody>
      </p:sp>
      <p:pic>
        <p:nvPicPr>
          <p:cNvPr id="5" name="Content Placeholder 4" descr="side view of two friends in dirty nature cleaning the environment.">
            <a:extLst>
              <a:ext uri="{FF2B5EF4-FFF2-40B4-BE49-F238E27FC236}">
                <a16:creationId xmlns:a16="http://schemas.microsoft.com/office/drawing/2014/main" id="{F31724E4-8CE8-43CF-BFF2-7C8BE46CDEC0}"/>
              </a:ext>
            </a:extLst>
          </p:cNvPr>
          <p:cNvPicPr>
            <a:picLocks noGrp="1" noChangeAspect="1"/>
          </p:cNvPicPr>
          <p:nvPr>
            <p:ph type="pic" sz="quarter" idx="13"/>
          </p:nvPr>
        </p:nvPicPr>
        <p:blipFill>
          <a:blip r:embed="rId3"/>
          <a:srcRect l="23272" r="3683" b="2"/>
          <a:stretch>
            <a:fillRect/>
          </a:stretch>
        </p:blipFill>
        <p:spPr>
          <a:xfrm>
            <a:off x="20" y="2175642"/>
            <a:ext cx="5584186" cy="4682358"/>
          </a:xfrm>
        </p:spPr>
      </p:pic>
      <p:sp>
        <p:nvSpPr>
          <p:cNvPr id="4" name="Content Placeholder 3">
            <a:extLst>
              <a:ext uri="{FF2B5EF4-FFF2-40B4-BE49-F238E27FC236}">
                <a16:creationId xmlns:a16="http://schemas.microsoft.com/office/drawing/2014/main" id="{793F32AF-6BA8-160B-1511-65CA54E66A7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Risk Mapping and Gap Analysis</a:t>
            </a:r>
          </a:p>
          <a:p>
            <a:pPr marL="0" lvl="1" indent="0">
              <a:buFont typeface="Arial" panose="020B0604020202020204" pitchFamily="34" charset="0"/>
              <a:buNone/>
            </a:pPr>
            <a:r>
              <a:t>Risk mapping identifies high radon exposure areas while gap analysis reveals testing deficiencies critical for disaster response.</a:t>
            </a:r>
            <a:endParaRPr lang="en-US"/>
          </a:p>
          <a:p>
            <a:pPr marL="0" indent="0">
              <a:spcBef>
                <a:spcPts val="2500"/>
              </a:spcBef>
              <a:buFont typeface="Arial" panose="020B0604020202020204" pitchFamily="34" charset="0"/>
              <a:buNone/>
            </a:pPr>
            <a:r>
              <a:rPr lang="en-US" b="1"/>
              <a:t>Prioritized Community Outreach</a:t>
            </a:r>
          </a:p>
          <a:p>
            <a:pPr marL="0" lvl="1" indent="0">
              <a:buFont typeface="Arial" panose="020B0604020202020204" pitchFamily="34" charset="0"/>
              <a:buNone/>
            </a:pPr>
            <a:r>
              <a:t>Outreach efforts focus on vulnerable communities to efficiently allocate resources and improve radon awareness and testing.</a:t>
            </a:r>
            <a:endParaRPr lang="en-US"/>
          </a:p>
          <a:p>
            <a:pPr marL="0" indent="0">
              <a:spcBef>
                <a:spcPts val="2500"/>
              </a:spcBef>
              <a:buFont typeface="Arial" panose="020B0604020202020204" pitchFamily="34" charset="0"/>
              <a:buNone/>
            </a:pPr>
            <a:r>
              <a:rPr lang="en-US" b="1"/>
              <a:t>Collaborative Stakeholder Engagement</a:t>
            </a:r>
          </a:p>
          <a:p>
            <a:pPr marL="0" lvl="1" indent="0">
              <a:buFont typeface="Arial" panose="020B0604020202020204" pitchFamily="34" charset="0"/>
              <a:buNone/>
            </a:pPr>
            <a:r>
              <a:t>Collaboration among public health agencies, local governments, and organizations ensures coordinated and effective radon risk management.</a:t>
            </a:r>
            <a:endParaRPr lang="en-US"/>
          </a:p>
          <a:p>
            <a:pPr marL="0" indent="0">
              <a:spcBef>
                <a:spcPts val="2500"/>
              </a:spcBef>
              <a:buFont typeface="Arial" panose="020B0604020202020204" pitchFamily="34" charset="0"/>
              <a:buNone/>
            </a:pPr>
            <a:r>
              <a:rPr lang="en-US" b="1"/>
              <a:t>Data-Driven Sustainable Model</a:t>
            </a:r>
          </a:p>
          <a:p>
            <a:pPr marL="0" lvl="1" indent="0">
              <a:buFont typeface="Arial" panose="020B0604020202020204" pitchFamily="34" charset="0"/>
              <a:buNone/>
            </a:pPr>
            <a:r>
              <a:t>Leveraging data-driven strategies supports sustainable radon mitigation models adaptable for future disaster recovery scenarios.</a:t>
            </a:r>
            <a:endParaRPr lang="en-US"/>
          </a:p>
        </p:txBody>
      </p:sp>
    </p:spTree>
    <p:extLst>
      <p:ext uri="{BB962C8B-B14F-4D97-AF65-F5344CB8AC3E}">
        <p14:creationId xmlns:p14="http://schemas.microsoft.com/office/powerpoint/2010/main" val="14908645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0BEC-7555-ADE0-5ED2-C23B15357890}"/>
              </a:ext>
            </a:extLst>
          </p:cNvPr>
          <p:cNvSpPr>
            <a:spLocks noGrp="1"/>
          </p:cNvSpPr>
          <p:nvPr>
            <p:ph type="ctrTitle"/>
          </p:nvPr>
        </p:nvSpPr>
        <p:spPr>
          <a:xfrm>
            <a:off x="457197" y="3507830"/>
            <a:ext cx="7772400" cy="2944368"/>
          </a:xfrm>
        </p:spPr>
        <p:txBody>
          <a:bodyPr anchor="b">
            <a:normAutofit/>
          </a:bodyPr>
          <a:lstStyle/>
          <a:p>
            <a:r>
              <a:rPr lang="en-US"/>
              <a:t>Technology Solution</a:t>
            </a:r>
          </a:p>
        </p:txBody>
      </p:sp>
    </p:spTree>
    <p:extLst>
      <p:ext uri="{BB962C8B-B14F-4D97-AF65-F5344CB8AC3E}">
        <p14:creationId xmlns:p14="http://schemas.microsoft.com/office/powerpoint/2010/main" val="26286114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6CEF-4C03-DF06-C315-B0770C36A6AB}"/>
              </a:ext>
            </a:extLst>
          </p:cNvPr>
          <p:cNvSpPr>
            <a:spLocks noGrp="1"/>
          </p:cNvSpPr>
          <p:nvPr>
            <p:ph type="title"/>
          </p:nvPr>
        </p:nvSpPr>
        <p:spPr>
          <a:xfrm>
            <a:off x="457200" y="457200"/>
            <a:ext cx="4380272" cy="1453896"/>
          </a:xfrm>
        </p:spPr>
        <p:txBody>
          <a:bodyPr anchor="t">
            <a:normAutofit/>
          </a:bodyPr>
          <a:lstStyle/>
          <a:p>
            <a:r>
              <a:rPr lang="en-US"/>
              <a:t>Radon Canvas Web Application Features</a:t>
            </a:r>
          </a:p>
        </p:txBody>
      </p:sp>
      <p:pic>
        <p:nvPicPr>
          <p:cNvPr id="5" name="Content Placeholder 4"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641AF3F1-04A9-4ED1-B699-CFFA9503233C}"/>
              </a:ext>
            </a:extLst>
          </p:cNvPr>
          <p:cNvPicPr>
            <a:picLocks noGrp="1" noChangeAspect="1"/>
          </p:cNvPicPr>
          <p:nvPr>
            <p:ph type="pic" sz="quarter" idx="13"/>
          </p:nvPr>
        </p:nvPicPr>
        <p:blipFill>
          <a:blip r:embed="rId3"/>
          <a:srcRect l="16377" r="20713"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ED2D3D60-77E1-2085-7649-764CCAE5134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Centralized Radon Data</a:t>
            </a:r>
          </a:p>
          <a:p>
            <a:pPr marL="0" lvl="1" indent="0">
              <a:buFont typeface="Arial" panose="020B0604020202020204" pitchFamily="34" charset="0"/>
              <a:buNone/>
            </a:pPr>
            <a:r>
              <a:t>The app provides detailed neighborhood and household radon risk data with interactive mapping for clear visualization.</a:t>
            </a:r>
            <a:endParaRPr lang="en-US"/>
          </a:p>
          <a:p>
            <a:pPr marL="0" indent="0">
              <a:spcBef>
                <a:spcPts val="2500"/>
              </a:spcBef>
              <a:buFont typeface="Arial" panose="020B0604020202020204" pitchFamily="34" charset="0"/>
              <a:buNone/>
            </a:pPr>
            <a:r>
              <a:rPr lang="en-US" b="1"/>
              <a:t>Resource Access and Support</a:t>
            </a:r>
          </a:p>
          <a:p>
            <a:pPr marL="0" lvl="1" indent="0">
              <a:buFont typeface="Arial" panose="020B0604020202020204" pitchFamily="34" charset="0"/>
              <a:buNone/>
            </a:pPr>
            <a:r>
              <a:t>Users can find educational materials and connect with certified mitigation providers for effective radon remediation.</a:t>
            </a:r>
            <a:endParaRPr lang="en-US"/>
          </a:p>
          <a:p>
            <a:pPr marL="0" indent="0">
              <a:spcBef>
                <a:spcPts val="2500"/>
              </a:spcBef>
              <a:buFont typeface="Arial" panose="020B0604020202020204" pitchFamily="34" charset="0"/>
              <a:buNone/>
            </a:pPr>
            <a:r>
              <a:rPr lang="en-US" b="1"/>
              <a:t>Real-Time Updates and Coordination</a:t>
            </a:r>
          </a:p>
          <a:p>
            <a:pPr marL="0" lvl="1" indent="0">
              <a:buFont typeface="Arial" panose="020B0604020202020204" pitchFamily="34" charset="0"/>
              <a:buNone/>
            </a:pPr>
            <a:r>
              <a:t>The app offers real-time data updates, enhancing transparency and streamlining stakeholder coordination.</a:t>
            </a:r>
            <a:endParaRPr lang="en-US"/>
          </a:p>
          <a:p>
            <a:pPr marL="0" indent="0">
              <a:spcBef>
                <a:spcPts val="2500"/>
              </a:spcBef>
              <a:buFont typeface="Arial" panose="020B0604020202020204" pitchFamily="34" charset="0"/>
              <a:buNone/>
            </a:pPr>
            <a:r>
              <a:rPr lang="en-US" b="1"/>
              <a:t>User-Friendly Interface</a:t>
            </a:r>
          </a:p>
          <a:p>
            <a:pPr marL="0" lvl="1" indent="0">
              <a:buFont typeface="Arial" panose="020B0604020202020204" pitchFamily="34" charset="0"/>
              <a:buNone/>
            </a:pPr>
            <a:r>
              <a:t>Designed for accessibility, the app supports both residents and professionals in managing radon risks easily.</a:t>
            </a:r>
            <a:endParaRPr lang="en-US"/>
          </a:p>
        </p:txBody>
      </p:sp>
    </p:spTree>
    <p:extLst>
      <p:ext uri="{BB962C8B-B14F-4D97-AF65-F5344CB8AC3E}">
        <p14:creationId xmlns:p14="http://schemas.microsoft.com/office/powerpoint/2010/main" val="25276770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97EB8-CC7E-9CAF-76C5-7D6979E41082}"/>
              </a:ext>
            </a:extLst>
          </p:cNvPr>
          <p:cNvSpPr>
            <a:spLocks noGrp="1"/>
          </p:cNvSpPr>
          <p:nvPr>
            <p:ph type="ctrTitle"/>
          </p:nvPr>
        </p:nvSpPr>
        <p:spPr>
          <a:xfrm>
            <a:off x="457197" y="3507830"/>
            <a:ext cx="7772400" cy="2944368"/>
          </a:xfrm>
        </p:spPr>
        <p:txBody>
          <a:bodyPr anchor="b">
            <a:normAutofit/>
          </a:bodyPr>
          <a:lstStyle/>
          <a:p>
            <a:r>
              <a:rPr lang="en-US"/>
              <a:t>Implementation Pathway</a:t>
            </a:r>
          </a:p>
        </p:txBody>
      </p:sp>
    </p:spTree>
    <p:extLst>
      <p:ext uri="{BB962C8B-B14F-4D97-AF65-F5344CB8AC3E}">
        <p14:creationId xmlns:p14="http://schemas.microsoft.com/office/powerpoint/2010/main" val="3808855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5BA3-F95D-2E5A-122F-BA7FC66EBE22}"/>
              </a:ext>
            </a:extLst>
          </p:cNvPr>
          <p:cNvSpPr>
            <a:spLocks noGrp="1"/>
          </p:cNvSpPr>
          <p:nvPr>
            <p:ph type="title"/>
          </p:nvPr>
        </p:nvSpPr>
        <p:spPr>
          <a:xfrm>
            <a:off x="7242526" y="457200"/>
            <a:ext cx="4437283" cy="1410020"/>
          </a:xfrm>
        </p:spPr>
        <p:txBody>
          <a:bodyPr anchor="b">
            <a:normAutofit/>
          </a:bodyPr>
          <a:lstStyle/>
          <a:p>
            <a:r>
              <a:rPr lang="en-US"/>
              <a:t>Immediate and Sustained Actions for Success</a:t>
            </a:r>
          </a:p>
        </p:txBody>
      </p:sp>
      <p:pic>
        <p:nvPicPr>
          <p:cNvPr id="5" name="Content Placeholder 4" descr="Residential house being built">
            <a:extLst>
              <a:ext uri="{FF2B5EF4-FFF2-40B4-BE49-F238E27FC236}">
                <a16:creationId xmlns:a16="http://schemas.microsoft.com/office/drawing/2014/main" id="{4EE2F9BB-FE4B-4A80-B27E-F14194447D44}"/>
              </a:ext>
            </a:extLst>
          </p:cNvPr>
          <p:cNvPicPr>
            <a:picLocks noGrp="1" noChangeAspect="1"/>
          </p:cNvPicPr>
          <p:nvPr>
            <p:ph type="pic" sz="quarter" idx="13"/>
          </p:nvPr>
        </p:nvPicPr>
        <p:blipFill>
          <a:blip r:embed="rId3"/>
          <a:srcRect l="472" r="34110" b="-1"/>
          <a:stretch>
            <a:fillRect/>
          </a:stretch>
        </p:blipFill>
        <p:spPr>
          <a:xfrm>
            <a:off x="20" y="10"/>
            <a:ext cx="6721048" cy="6857990"/>
          </a:xfrm>
        </p:spPr>
      </p:pic>
      <p:sp>
        <p:nvSpPr>
          <p:cNvPr id="4" name="Content Placeholder 3">
            <a:extLst>
              <a:ext uri="{FF2B5EF4-FFF2-40B4-BE49-F238E27FC236}">
                <a16:creationId xmlns:a16="http://schemas.microsoft.com/office/drawing/2014/main" id="{C7D54FE5-2128-ACCB-15BE-E79833C46F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a:t>Immediate Radon Mitigation</a:t>
            </a:r>
          </a:p>
          <a:p>
            <a:pPr marL="0" lvl="1" indent="0">
              <a:buFont typeface="Arial" panose="020B0604020202020204" pitchFamily="34" charset="0"/>
              <a:buNone/>
            </a:pPr>
            <a:r>
              <a:rPr lang="en-US"/>
              <a:t>Short-term</a:t>
            </a:r>
            <a:r>
              <a:t> actions include radon testing in building permits, educational campaigns, and using a radon resource app for awareness.</a:t>
            </a:r>
            <a:endParaRPr lang="en-US"/>
          </a:p>
          <a:p>
            <a:pPr marL="0" indent="0">
              <a:spcBef>
                <a:spcPts val="2500"/>
              </a:spcBef>
              <a:buFont typeface="Arial" panose="020B0604020202020204" pitchFamily="34" charset="0"/>
              <a:buNone/>
            </a:pPr>
            <a:r>
              <a:rPr lang="en-US" b="1"/>
              <a:t>Sustained Monitoring and Stewardship</a:t>
            </a:r>
          </a:p>
          <a:p>
            <a:pPr marL="0" lvl="1" indent="0">
              <a:buFont typeface="Arial" panose="020B0604020202020204" pitchFamily="34" charset="0"/>
              <a:buNone/>
            </a:pPr>
            <a:r>
              <a:t>Long-term efforts focus on stewardship programs, automated data collection, and community engagement for continuous progress.</a:t>
            </a:r>
            <a:endParaRPr lang="en-US"/>
          </a:p>
          <a:p>
            <a:pPr marL="0" indent="0">
              <a:spcBef>
                <a:spcPts val="2500"/>
              </a:spcBef>
              <a:buFont typeface="Arial" panose="020B0604020202020204" pitchFamily="34" charset="0"/>
              <a:buNone/>
            </a:pPr>
            <a:r>
              <a:rPr lang="en-US" b="1"/>
              <a:t>Strategic Framework for Success</a:t>
            </a:r>
          </a:p>
          <a:p>
            <a:pPr marL="0" lvl="1" indent="0">
              <a:buFont typeface="Arial" panose="020B0604020202020204" pitchFamily="34" charset="0"/>
              <a:buNone/>
            </a:pPr>
            <a:r>
              <a:t>Combining immediate interventions with strategic planning builds a strong framework to reduce radon exposure effectively.</a:t>
            </a:r>
            <a:endParaRPr lang="en-US"/>
          </a:p>
        </p:txBody>
      </p:sp>
    </p:spTree>
    <p:extLst>
      <p:ext uri="{BB962C8B-B14F-4D97-AF65-F5344CB8AC3E}">
        <p14:creationId xmlns:p14="http://schemas.microsoft.com/office/powerpoint/2010/main" val="29158262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C4D25C3-873C-4C53-9166-E36A3E5D9C30}">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138AE6-00E4-459C-8B3A-08927B7E54F0}">
  <ds:schemaRefs>
    <ds:schemaRef ds:uri="http://schemas.microsoft.com/sharepoint/v3/contenttype/forms"/>
  </ds:schemaRefs>
</ds:datastoreItem>
</file>

<file path=customXml/itemProps3.xml><?xml version="1.0" encoding="utf-8"?>
<ds:datastoreItem xmlns:ds="http://schemas.openxmlformats.org/officeDocument/2006/customXml" ds:itemID="{8749EA57-08A7-43CA-A845-5F6B04788291}">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0</TotalTime>
  <Words>1571</Words>
  <Application>Microsoft Office PowerPoint</Application>
  <PresentationFormat>Widescreen</PresentationFormat>
  <Paragraphs>100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Bierstadt</vt:lpstr>
      <vt:lpstr>Calibri</vt:lpstr>
      <vt:lpstr>Bevel</vt:lpstr>
      <vt:lpstr>Radon Risk and Recovery Strategy Post-Tornado</vt:lpstr>
      <vt:lpstr>Radon Risk in Tornado Recovery</vt:lpstr>
      <vt:lpstr>Impact of EF3 Tornado on Structures and Radon Exposure</vt:lpstr>
      <vt:lpstr>Community Health Disparities</vt:lpstr>
      <vt:lpstr>Existing Health Challenges and Environmental Legacy</vt:lpstr>
      <vt:lpstr>Radon Burden</vt:lpstr>
      <vt:lpstr>Health Impact and Prevalence of Radon Exposure</vt:lpstr>
      <vt:lpstr>Opportunity Window</vt:lpstr>
      <vt:lpstr>Leveraging Reconstruction for Radon Mitigation</vt:lpstr>
      <vt:lpstr>Radon Canvas Initiative</vt:lpstr>
      <vt:lpstr>Strategic Framework for Risk Management</vt:lpstr>
      <vt:lpstr>Technology Solution</vt:lpstr>
      <vt:lpstr>Radon Canvas Web Application Features</vt:lpstr>
      <vt:lpstr>Implementation Pathway</vt:lpstr>
      <vt:lpstr>Immediate and Sustained Actions for Success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Graham, Doug</cp:lastModifiedBy>
  <cp:revision>2</cp:revision>
  <dcterms:created xsi:type="dcterms:W3CDTF">2025-08-21T02:25:28Z</dcterms:created>
  <dcterms:modified xsi:type="dcterms:W3CDTF">2026-01-15T22:21:46Z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